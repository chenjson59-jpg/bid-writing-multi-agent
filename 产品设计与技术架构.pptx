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6583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BIDDING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658368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招标文件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多智能体系统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52928"/>
            <a:ext cx="6217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100" b="0">
                <a:solidFill>
                  <a:srgbClr val="0EA5E9"/>
                </a:solidFill>
                <a:latin typeface="Microsoft YaHei"/>
                <a:ea typeface="Microsoft YaHei"/>
              </a:rPr>
              <a:t>产品设计与技术架构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01568"/>
            <a:ext cx="61264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Microsoft YaHei"/>
                <a:ea typeface="Microsoft YaHei"/>
              </a:rPr>
              <a:t>把长文档解析、评分响应与投标草稿编写，做成一条可追踪的交付链路。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519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Microsoft YaHei"/>
                <a:ea typeface="Microsoft YaHei"/>
              </a:rPr>
              <a:t>文档解析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2519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多角色编写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425196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B1220"/>
                </a:solidFill>
                <a:latin typeface="Microsoft YaHei"/>
                <a:ea typeface="Microsoft YaHei"/>
              </a:rPr>
              <a:t>可追溯交付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74920"/>
            <a:ext cx="6126480" cy="10972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6126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2026.10 · 内部汇报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777240"/>
            <a:ext cx="4160520" cy="530352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34416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62456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34416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文档接入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69164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解析 · 抽取 · 索引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464040" y="2313432"/>
            <a:ext cx="164592" cy="12801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2514600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18120" y="262432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642616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2432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多角色编写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7180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策划 · 写作 · 评审 · 修订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464040" y="3593591"/>
            <a:ext cx="164592" cy="128016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18120" y="3794760"/>
            <a:ext cx="3429000" cy="1005840"/>
          </a:xfrm>
          <a:prstGeom prst="roundRect">
            <a:avLst>
              <a:gd name="adj" fmla="val 8000"/>
            </a:avLst>
          </a:prstGeom>
          <a:solidFill>
            <a:srgbClr val="052E2B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18120" y="3904488"/>
            <a:ext cx="54864" cy="78638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922776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904488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产物交付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51960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Markdown · Word · 覆盖报告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212080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从 PDF 到草稿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3749039" cy="6858000"/>
          </a:xfrm>
          <a:prstGeom prst="roundRect">
            <a:avLst>
              <a:gd name="adj" fmla="val 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2743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6324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2743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</a:rPr>
              <a:t>产品 × 技术 × 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2743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</a:rPr>
              <a:t>2026.10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914400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0EA5E9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1768" y="886968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背景与定位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1261872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投标工作的结构性问题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914400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886968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产品设计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1261872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四个工作区与核心流程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74519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48716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245973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界面与体验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834639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上传、文档库、编写、历史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447287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487168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D9770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45973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2834639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桌面、接口、队列、引擎、存储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447287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59935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10B981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4032503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核心机制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1768" y="4407407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解析、抽取、检索、编写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020055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59935"/>
            <a:ext cx="502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E11D48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032503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</a:rPr>
              <a:t>成果与规划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407407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当前状态与下一步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020055"/>
            <a:ext cx="3246120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01 · 产品背景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投标工作的四个结构性痛点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长文档、多评分项、重复劳动与覆盖度失控，构成同一条交付链路的不同断点。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4864" cy="31089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74519"/>
            <a:ext cx="438912" cy="43891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0B1220"/>
                </a:solidFill>
                <a:latin typeface="Microsoft YaHei"/>
                <a:ea typeface="Microsoft YaHei"/>
              </a:rPr>
              <a:t>读不完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1945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19" b="0">
                <a:solidFill>
                  <a:srgbClr val="334155"/>
                </a:solidFill>
                <a:latin typeface="Microsoft YaHei"/>
                <a:ea typeface="Microsoft YaHei"/>
              </a:rPr>
              <a:t>招标文件动辄几百页，目录、评分办法、格式要求分散在不同章节。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Microsoft YaHei"/>
                <a:ea typeface="Microsoft YaHei"/>
              </a:rPr>
              <a:t>输入侧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16002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1737360"/>
            <a:ext cx="54864" cy="31089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2736" y="1874519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46888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0B1220"/>
                </a:solidFill>
                <a:latin typeface="Microsoft YaHei"/>
                <a:ea typeface="Microsoft YaHei"/>
              </a:rPr>
              <a:t>对不上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971800"/>
            <a:ext cx="21945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19" b="0">
                <a:solidFill>
                  <a:srgbClr val="334155"/>
                </a:solidFill>
                <a:latin typeface="Microsoft YaHei"/>
                <a:ea typeface="Microsoft YaHei"/>
              </a:rPr>
              <a:t>评分因素与投标章节缺少显式映射，容易漏项或错配。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45720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D97706"/>
                </a:solidFill>
                <a:latin typeface="Microsoft YaHei"/>
                <a:ea typeface="Microsoft YaHei"/>
              </a:rPr>
              <a:t>组织侧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16002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19" y="1737360"/>
            <a:ext cx="54864" cy="31089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1" y="1874519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246888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0B1220"/>
                </a:solidFill>
                <a:latin typeface="Microsoft YaHei"/>
                <a:ea typeface="Microsoft YaHei"/>
              </a:rPr>
              <a:t>写不快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971800"/>
            <a:ext cx="21945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19" b="0">
                <a:solidFill>
                  <a:srgbClr val="334155"/>
                </a:solidFill>
                <a:latin typeface="Microsoft YaHei"/>
                <a:ea typeface="Microsoft YaHei"/>
              </a:rPr>
              <a:t>公司资料、业绩、人员、方案反复填写，初稿重复劳动多。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5720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  <a:ea typeface="Microsoft YaHei"/>
              </a:rPr>
              <a:t>产出侧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1600200"/>
            <a:ext cx="26060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43415" y="1737360"/>
            <a:ext cx="54864" cy="310896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53728" y="1874519"/>
            <a:ext cx="438912" cy="43891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46888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900" b="1">
                <a:solidFill>
                  <a:srgbClr val="0B1220"/>
                </a:solidFill>
                <a:latin typeface="Microsoft YaHei"/>
                <a:ea typeface="Microsoft YaHei"/>
              </a:rPr>
              <a:t>查不全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971800"/>
            <a:ext cx="21945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19" b="0">
                <a:solidFill>
                  <a:srgbClr val="334155"/>
                </a:solidFill>
                <a:latin typeface="Microsoft YaHei"/>
                <a:ea typeface="Microsoft YaHei"/>
              </a:rPr>
              <a:t>初稿缺少覆盖度自检，无法判断哪些评分项没有响应。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45720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E11D48"/>
                </a:solidFill>
                <a:latin typeface="Microsoft YaHei"/>
                <a:ea typeface="Microsoft YaHei"/>
              </a:rPr>
              <a:t>质量侧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投标不是缺一个写作工具，而是缺一条从读到写、从写到查的交付链路。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01 ·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把招标文件变成可检查、可交付的投标草稿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不是替代投标决策，而是把重复阅读、整理、初稿与自检交给一条可追踪的流水线。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</a:rPr>
              <a:t>OUR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886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  <a:ea typeface="Microsoft YaHei"/>
              </a:rPr>
              <a:t>把招标文件变成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886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可检查、可交付的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100" b="1">
                <a:solidFill>
                  <a:srgbClr val="0EA5E9"/>
                </a:solidFill>
                <a:latin typeface="Microsoft YaHei"/>
                <a:ea typeface="Microsoft YaHei"/>
              </a:rPr>
              <a:t>投标草稿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8620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749039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  <a:ea typeface="Microsoft YaHei"/>
              </a:rPr>
              <a:t>解析 → 抽取 → 检索 → 编写 → 自检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9204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本地单用户桌面工作台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1600200"/>
            <a:ext cx="6217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13248" y="1709928"/>
            <a:ext cx="54864" cy="10149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19072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0D9488"/>
                </a:solidFill>
                <a:latin typeface="Microsoft YaHei"/>
                <a:ea typeface="Microsoft YaHei"/>
              </a:rPr>
              <a:t>面向谁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984248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投标负责人 · 标书编写 · 技术方案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33172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需要反复读招标文件、逐条响应评分要求的人。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2971800"/>
            <a:ext cx="6217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13248" y="3081528"/>
            <a:ext cx="54864" cy="10149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090672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Microsoft YaHei"/>
                <a:ea typeface="Microsoft YaHei"/>
              </a:rPr>
              <a:t>解决什么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55848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一条可追踪的交付链路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解析、抽取、检索、编写、自检、交付，每一步有状态与产物。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4343400"/>
            <a:ext cx="62179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453128"/>
            <a:ext cx="54864" cy="10149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462272"/>
            <a:ext cx="5669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E11D48"/>
                </a:solidFill>
                <a:latin typeface="Microsoft YaHei"/>
                <a:ea typeface="Microsoft YaHei"/>
              </a:rPr>
              <a:t>不做什么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727448"/>
            <a:ext cx="5669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不编造 · 不报价 · 不替代决策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074920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资料缺失生成占位符；报价、清单等决策内容只留结构化占位。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02 · 产品设计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从一份 PDF 到一套可交付产物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六个步骤，每一步都有明确的输入、输出与可观察状态。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3" y="196596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上传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拖拽/选择，校验格式与大小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3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350008" y="2834640"/>
            <a:ext cx="137160" cy="16459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05456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70048" y="196596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解析结构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书签还原 / 云端版面 / 本地回退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0048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187952" y="2834640"/>
            <a:ext cx="137160" cy="16459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07992" y="1965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结构化抽取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评分、资格、格式、合同、技术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25896" y="2834640"/>
            <a:ext cx="137160" cy="16459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45936" y="196596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建立索引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章节分块，幂等入库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863840" y="2834640"/>
            <a:ext cx="137160" cy="16459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19288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83880" y="196596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多角色编写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策划、写作、评审、修订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80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9701784" y="2834640"/>
            <a:ext cx="137160" cy="164592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57232" y="1783080"/>
            <a:ext cx="16642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21824" y="1965960"/>
            <a:ext cx="384048" cy="38404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2487168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预览交付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824" y="2852928"/>
            <a:ext cx="1389888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Markdown / Word / 覆盖报告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21824" y="3886200"/>
            <a:ext cx="1335024" cy="3657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14800" y="45262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284C7"/>
                </a:solidFill>
                <a:latin typeface="Microsoft YaHei"/>
                <a:ea typeface="Microsoft YaHei"/>
              </a:rPr>
              <a:t>异步任务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0" y="45262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  <a:ea typeface="Microsoft YaHei"/>
              </a:rPr>
              <a:t>实时进度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可追溯产物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每一步都有状态、进度与产物；失败可定位，结果可复查。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02 · 产品设计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四个工作区，覆盖完整操作闭环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从接入、查阅到编写、交付，全部在同一个桌面工作台完成。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4864" cy="1828799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013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上传解析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493776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拖拽上传，校验格式与大小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解析方式与抽取/入库开关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阶段日志与解析摘要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00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4864" cy="1828799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2" y="18013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78308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文档库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258568"/>
            <a:ext cx="493776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搜索与抽取状态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Markdown 预览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直接发起编写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4023360"/>
            <a:ext cx="54864" cy="1828799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0873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6908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编写标书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493776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常用表单 + 高级 JSON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参数与成本确认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进度与覆盖报告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886200"/>
            <a:ext cx="54406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54864" cy="1828799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28232" y="40873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069080"/>
            <a:ext cx="4297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标书历史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544568"/>
            <a:ext cx="493776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历史产物与覆盖摘要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下载 md/docx/report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打开文件/文件夹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53328"/>
            <a:ext cx="4480560" cy="25603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Microsoft YaHei"/>
                <a:ea typeface="Microsoft YaHei"/>
              </a:rPr>
              <a:t>桌面工作台 · 深色/浅色主题 · 状态保持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03 · 界面与体验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上传解析：把长任务变成可见的进度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上传、解析、抽取、入库都在一个页面内完成，失败不丢上下文。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7040880" cy="3721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30" y="1609344"/>
            <a:ext cx="6836498" cy="3611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340096"/>
            <a:ext cx="6949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实际界面截图 · 深色主题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600200"/>
            <a:ext cx="3822191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0" y="1783080"/>
            <a:ext cx="292608" cy="2926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46504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拖拽 + 选择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57400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PDF 扩展名与 200 MB 校验；解析方式 auto/cloud/local。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880360"/>
            <a:ext cx="3822191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063240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26664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进度透明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37560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上传百分比 → pending → running；阶段日志与等待提示。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160520"/>
            <a:ext cx="3822191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01000" y="4343400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06824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50" b="1">
                <a:solidFill>
                  <a:srgbClr val="0B1220"/>
                </a:solidFill>
                <a:latin typeface="Microsoft YaHei"/>
                <a:ea typeface="Microsoft YaHei"/>
              </a:rPr>
              <a:t>结果可读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17720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30" b="0">
                <a:solidFill>
                  <a:srgbClr val="334155"/>
                </a:solidFill>
                <a:latin typeface="Microsoft YaHei"/>
                <a:ea typeface="Microsoft YaHei"/>
              </a:rPr>
              <a:t>页数、章节、图片；抽取与入库摘要；解析警告。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440680"/>
            <a:ext cx="3822191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失败时展示 error_type 与中文错误，不丢失已获得的进度。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03 · 界面与体验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文档库与标书历史：结果可找、可看、可交付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已解析文档和历史产物不再藏在目录里，而是成为可直接操作的对象。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40680" cy="2871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33" y="1563624"/>
            <a:ext cx="5226892" cy="27614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9632" y="1508760"/>
            <a:ext cx="5440680" cy="2871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525" y="1563624"/>
            <a:ext cx="5226892" cy="2761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4434840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文档库：搜索、预览、直接编写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4434840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标书历史：覆盖摘要、下载、打开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5047488"/>
            <a:ext cx="54864" cy="83210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B1220"/>
                </a:solidFill>
                <a:latin typeface="Microsoft YaHei"/>
                <a:ea typeface="Microsoft YaHei"/>
              </a:rPr>
              <a:t>未抽取文档禁止编写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2180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未抽取项直接禁用，避免无依据写作。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49377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5112" y="5047488"/>
            <a:ext cx="54864" cy="83210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502920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B1220"/>
                </a:solidFill>
                <a:latin typeface="Microsoft YaHei"/>
                <a:ea typeface="Microsoft YaHei"/>
              </a:rPr>
              <a:t>Word 不可用时置灰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532180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导出失败不影响 Markdown 与报告。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493776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83296" y="5047488"/>
            <a:ext cx="54864" cy="83210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5029200"/>
            <a:ext cx="3246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B1220"/>
                </a:solidFill>
                <a:latin typeface="Microsoft YaHei"/>
                <a:ea typeface="Microsoft YaHei"/>
              </a:rPr>
              <a:t>桌面打开文件/文件夹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321808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仅允许 upload/ 下的路径。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04 · 多角色机制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把写作拆成可检查的步骤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策划、写作、评审、修订、汇总，每个角色只做一件可验证的事。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011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38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0EA5E9"/>
                </a:solidFill>
                <a:latin typeface="Microsoft YaHei"/>
                <a:ea typeface="Microsoft YaHei"/>
              </a:rPr>
              <a:t>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策划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691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评分与格式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→ 章节计划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67328"/>
            <a:ext cx="457200" cy="457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756916" y="274320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07792" y="1783080"/>
            <a:ext cx="2011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90672" y="1938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7C3AED"/>
                </a:solidFill>
                <a:latin typeface="Microsoft YaHei"/>
                <a:ea typeface="Microsoft YaHei"/>
              </a:rPr>
              <a:t>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3172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写作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691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检索原文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→ 章节正文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3767328"/>
            <a:ext cx="457200" cy="457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933188" y="274320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4064" y="1783080"/>
            <a:ext cx="2011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6944" y="1938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D97706"/>
                </a:solidFill>
                <a:latin typeface="Microsoft YaHei"/>
                <a:ea typeface="Microsoft YaHei"/>
              </a:rP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33172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743200"/>
            <a:ext cx="1691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完整性 / 针对性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/ 可执行性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6944" y="3767328"/>
            <a:ext cx="457200" cy="457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109460" y="274320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0336" y="1783080"/>
            <a:ext cx="2011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43216" y="1938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10B981"/>
                </a:solidFill>
                <a:latin typeface="Microsoft YaHei"/>
                <a:ea typeface="Microsoft YaHei"/>
              </a:rPr>
              <a:t>REVISER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233172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修订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216" y="2743200"/>
            <a:ext cx="1691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按意见修改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→ 新稿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43216" y="3767328"/>
            <a:ext cx="457200" cy="45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9285732" y="274320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36608" y="1783080"/>
            <a:ext cx="201168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19488" y="193852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0D9488"/>
                </a:solidFill>
                <a:latin typeface="Microsoft YaHei"/>
                <a:ea typeface="Microsoft YaHei"/>
              </a:rPr>
              <a:t>ASSEMBLER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9488" y="2331720"/>
            <a:ext cx="1691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汇总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2743200"/>
            <a:ext cx="16916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合并 + 覆盖报告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+ 产物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9488" y="3767328"/>
            <a:ext cx="457200" cy="457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4434840"/>
            <a:ext cx="11094415" cy="73152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得分低于阈值才修订；最多 N 次；只保留不降分稿。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284C7"/>
                </a:solidFill>
                <a:latin typeface="Microsoft YaHei"/>
                <a:ea typeface="Microsoft YaHei"/>
              </a:rPr>
              <a:t>章节并行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5532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D97706"/>
                </a:solidFill>
                <a:latin typeface="Microsoft YaHei"/>
                <a:ea typeface="Microsoft YaHei"/>
              </a:rPr>
              <a:t>评分阈值 75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5532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占位符控制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04 · 质量控制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质量不是感觉，而是逐条可核对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把“写完了”变成“覆盖了什么、缺了什么、哪些需要人工补全”。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格式覆盖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21945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格式条目逐条对应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缺失项列入报告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支持占位章节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Microsoft YaHei"/>
                <a:ea typeface="Microsoft YaHei"/>
              </a:rPr>
              <a:t>清单化输出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60020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02736" y="18288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42316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评分覆盖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880360"/>
            <a:ext cx="21945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评分因素映射章节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未覆盖且有分值 → 警告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按类别兜底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43434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未覆盖警告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160020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8231" y="182880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42316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章节得分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880360"/>
            <a:ext cx="21945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修订前后得分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只采纳不降分稿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记录修订次数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43434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D97706"/>
                </a:solidFill>
                <a:latin typeface="Microsoft YaHei"/>
                <a:ea typeface="Microsoft YaHei"/>
              </a:rPr>
              <a:t>不降分策略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600200"/>
            <a:ext cx="26060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53728" y="1828800"/>
            <a:ext cx="411480" cy="41148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42316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600" b="1">
                <a:solidFill>
                  <a:srgbClr val="0B1220"/>
                </a:solidFill>
                <a:latin typeface="Microsoft YaHei"/>
                <a:ea typeface="Microsoft YaHei"/>
              </a:rPr>
              <a:t>占位符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880360"/>
            <a:ext cx="2194560" cy="1325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缺失资料统一标记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去重统计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80" b="0">
                <a:solidFill>
                  <a:srgbClr val="334155"/>
                </a:solidFill>
                <a:latin typeface="Microsoft YaHei"/>
                <a:ea typeface="Microsoft YaHei"/>
              </a:rPr>
              <a:t>• 人工补全后再提交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4343400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1">
                <a:solidFill>
                  <a:srgbClr val="E11D48"/>
                </a:solidFill>
                <a:latin typeface="Microsoft YaHei"/>
                <a:ea typeface="Microsoft YaHei"/>
              </a:rPr>
              <a:t>人工核对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21208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草稿必须人工核对；报价与清单只生成结构化占位，不自动填写。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3949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</a:rPr>
              <a:t>桌面 → 接口 → 队列 → 执行器 → 引擎 → 存储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4864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EA5E9"/>
                </a:solidFill>
                <a:latin typeface="Microsoft YaHei"/>
                <a:ea typeface="Microsoft YaHei"/>
              </a:rPr>
              <a:t>异步任务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3832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7C3AED"/>
                </a:solidFill>
                <a:latin typeface="Microsoft YaHei"/>
                <a:ea typeface="Microsoft YaHei"/>
              </a:rPr>
              <a:t>多角色编排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38328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52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0B981"/>
                </a:solidFill>
                <a:latin typeface="Microsoft YaHei"/>
                <a:ea typeface="Microsoft YaHei"/>
              </a:rPr>
              <a:t>本地优先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3035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icrosoft YaHei"/>
                <a:ea typeface="Microsoft YaHei"/>
              </a:rPr>
              <a:t>从桌面到任务队列，再到多角色编写。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143000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0F2A43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69480" y="1271016"/>
            <a:ext cx="310896" cy="31089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280160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桌面工作台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144000" y="1746504"/>
            <a:ext cx="146304" cy="109728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1892807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042F2E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80" y="2020824"/>
            <a:ext cx="310896" cy="3108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029967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接口服务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44000" y="2496312"/>
            <a:ext cx="146304" cy="109728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642615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2A1F0A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770632"/>
            <a:ext cx="310896" cy="3108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779775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任务队列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144000" y="3246120"/>
            <a:ext cx="146304" cy="109728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3392424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69480" y="352044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529584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处理引擎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144000" y="3995928"/>
            <a:ext cx="146304" cy="109728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0" y="4142231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052E2B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69480" y="4270247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427939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存储与外部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五层架构：从桌面到引擎再到存储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接口只负责校验与调度，长任务交给执行器，结果回到本机文件与索引。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73351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755648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EA5E9"/>
                </a:solidFill>
                <a:latin typeface="Microsoft YaHei"/>
                <a:ea typeface="Microsoft YaHei"/>
              </a:rPr>
              <a:t>工作台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上传解析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文档库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3736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编写标书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737360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标书历史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143000" y="2304288"/>
            <a:ext cx="146304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404872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569464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6517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D9488"/>
                </a:solidFill>
                <a:latin typeface="Microsoft YaHei"/>
                <a:ea typeface="Microsoft YaHei"/>
              </a:rPr>
              <a:t>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633472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任务接口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633472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资料库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633472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产物服务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633472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健康检查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143000" y="3200400"/>
            <a:ext cx="146304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300984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465576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547872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D97706"/>
                </a:solidFill>
                <a:latin typeface="Microsoft YaHei"/>
                <a:ea typeface="Microsoft YaHei"/>
              </a:rPr>
              <a:t>队列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3529584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任务队列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529584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后台执行器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3529584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进度 / 结果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143000" y="4096511"/>
            <a:ext cx="146304" cy="10058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197096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3232" y="4361688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引擎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443983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7C3AED"/>
                </a:solidFill>
                <a:latin typeface="Microsoft YaHei"/>
                <a:ea typeface="Microsoft YaHei"/>
              </a:rPr>
              <a:t>执行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425696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文档解析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425696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结构化抽取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4425696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检索索引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4425696"/>
            <a:ext cx="141732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34155"/>
                </a:solidFill>
                <a:latin typeface="Microsoft YaHei"/>
                <a:ea typeface="Microsoft YaHei"/>
              </a:rPr>
              <a:t>多角色编写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93208"/>
            <a:ext cx="11091672" cy="777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016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3232" y="525780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存储 / 外部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340096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  <a:ea typeface="Microsoft YaHei"/>
              </a:rPr>
              <a:t>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0B981"/>
                </a:solidFill>
                <a:latin typeface="Microsoft YaHei"/>
                <a:ea typeface="Microsoft YaHei"/>
              </a:rPr>
              <a:t>文件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D97706"/>
                </a:solidFill>
                <a:latin typeface="Microsoft YaHei"/>
                <a:ea typeface="Microsoft YaHei"/>
              </a:rPr>
              <a:t>Redis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0EA5E9"/>
                </a:solidFill>
                <a:latin typeface="Microsoft YaHei"/>
                <a:ea typeface="Microsoft YaHei"/>
              </a:rPr>
              <a:t>Chroma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E11D48"/>
                </a:solidFill>
                <a:latin typeface="Microsoft YaHei"/>
                <a:ea typeface="Microsoft YaHei"/>
              </a:rPr>
              <a:t>文本模型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E11D48"/>
                </a:solidFill>
                <a:latin typeface="Microsoft YaHei"/>
                <a:ea typeface="Microsoft YaHei"/>
              </a:rPr>
              <a:t>嵌入服务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5321808"/>
            <a:ext cx="1234440" cy="320040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E11D48"/>
                </a:solidFill>
                <a:latin typeface="Microsoft YaHei"/>
                <a:ea typeface="Microsoft YaHei"/>
              </a:rPr>
              <a:t>云端解析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6172200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64748B"/>
                </a:solidFill>
                <a:latin typeface="Microsoft YaHei"/>
                <a:ea typeface="Microsoft YaHei"/>
              </a:rPr>
              <a:t>API :8001 · Redis :6379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组件职责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六个组件，各自负责一段确定性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每一层只暴露必要的接口，失败与降级都被限制在组件内部。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6479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465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接口与分发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校验、落盘、入队、轮询；队列满与不可用有明确状态。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任务标记与结果映射。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815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EA5E9"/>
                </a:solidFill>
                <a:latin typeface="Microsoft YaHei"/>
                <a:ea typeface="Microsoft YaHei"/>
              </a:rPr>
              <a:t>FastAPI · Celery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8848" y="176479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7465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文档解析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671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书签、分片、云端/本地、合并；无书签仍保留正文。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目录页识别与图片抽取。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815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0D9488"/>
                </a:solidFill>
                <a:latin typeface="Microsoft YaHei"/>
                <a:ea typeface="Microsoft YaHei"/>
              </a:rPr>
              <a:t>PyMuPDF · MinerU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5" y="1764792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17465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结构化抽取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1671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单元切分、重点路由、合并、溯源核对。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单元缓存与截断二分。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30815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7C3AED"/>
                </a:solidFill>
                <a:latin typeface="Microsoft YaHei"/>
                <a:ea typeface="Microsoft YaHei"/>
              </a:rPr>
              <a:t>Pydantic · DeepSeek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822191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039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检索索引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章节分块、嵌入、幂等入库、共享检索。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无书签按页兜底。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10B981"/>
                </a:solidFill>
                <a:latin typeface="Microsoft YaHei"/>
                <a:ea typeface="Microsoft YaHei"/>
              </a:rPr>
              <a:t>Chroma · Zhipu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6576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3822191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38039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编写编排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2245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策划、扇出、评审、修订、汇总与覆盖报告。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低分才修订，只留不降分稿。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51389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D97706"/>
                </a:solidFill>
                <a:latin typeface="Microsoft YaHei"/>
                <a:ea typeface="Microsoft YaHei"/>
              </a:rPr>
              <a:t>LangGraph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36576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66175" y="3822191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380390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</a:rPr>
              <a:t>资料库与交付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4224528"/>
            <a:ext cx="3182112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文档/历史、预览、下载、桌面打开。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334155"/>
                </a:solidFill>
                <a:latin typeface="Microsoft YaHei"/>
                <a:ea typeface="Microsoft YaHei"/>
              </a:rPr>
              <a:t>文件名白名单与路径校验。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5" y="5138928"/>
            <a:ext cx="318211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E11D48"/>
                </a:solidFill>
                <a:latin typeface="Microsoft YaHei"/>
                <a:ea typeface="Microsoft YaHei"/>
              </a:rPr>
              <a:t>python-docx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任务生命周期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异步执行：提交快、进度可见、结果可查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接口返回 202 后，任务在后台执行；前端每秒轮询，直到终态。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2219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排队中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2221992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已创建，等待执行。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执行器未启动时保持此状态。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72968" y="246888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4136" y="16002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5304" y="1783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running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212848"/>
            <a:ext cx="22219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执行中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606040"/>
            <a:ext cx="2221992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解析、抽取或编写中；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进度日志持续更新，轮询不中断。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246888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1" y="16002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799" y="1783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succeeded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2212848"/>
            <a:ext cx="22219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606040"/>
            <a:ext cx="2221992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result / extraction / ingest / bid 可用。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可预览、下载或打开产物。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23959" y="2468880"/>
            <a:ext cx="128016" cy="15544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25128" y="160020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26296" y="178308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Microsoft YaHei"/>
                <a:ea typeface="Microsoft YaHei"/>
              </a:rPr>
              <a:t>failed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212848"/>
            <a:ext cx="222199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失败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6296" y="2606040"/>
            <a:ext cx="2221992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返回 error_type 与 error；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产物可能部分存在，可查执行器日志。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822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EA5E9"/>
                </a:solidFill>
                <a:latin typeface="Microsoft YaHei"/>
                <a:ea typeface="Microsoft YaHei"/>
              </a:rPr>
              <a:t>24h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224528"/>
            <a:ext cx="24688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任务结果默认保留 24 小时；过期查询返回 404。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4114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4224528"/>
            <a:ext cx="822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D9770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4224528"/>
            <a:ext cx="24688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排队上限默认 2；队列满返回 429。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144" y="411480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3023" y="4224528"/>
            <a:ext cx="822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E11D48"/>
                </a:solidFill>
                <a:latin typeface="Microsoft YaHei"/>
                <a:ea typeface="Microsoft YaHei"/>
              </a:rPr>
              <a:t>15s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4224528"/>
            <a:ext cx="24688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19" b="0">
                <a:solidFill>
                  <a:srgbClr val="334155"/>
                </a:solidFill>
                <a:latin typeface="Microsoft YaHei"/>
                <a:ea typeface="Microsoft YaHei"/>
              </a:rPr>
              <a:t>pending 超过约 15 秒，提示检查执行器。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11094415" cy="64008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磁盘产物不受任务保留期影响；任务过期不等于产物删除。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本地优先的技术组合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围绕桌面交付、异步任务、文档处理与多角色编写选择技术。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4864" cy="38862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桌面端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19.3.1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7.0.2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93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8.3.4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33087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Electron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5254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44.8.0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73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Tailwind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9262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4.3.3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74136" y="160020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92424" y="1737360"/>
            <a:ext cx="54864" cy="3886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1737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接口与任务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221284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243230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0.143.3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285292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Pydantic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2736" y="307238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2.14.1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2736" y="3493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Celery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3712463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5.6.3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2736" y="4133087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02736" y="435254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8.1.0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2736" y="4773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Uvicorn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2736" y="499262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0.54.0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1" y="160020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17919" y="1737360"/>
            <a:ext cx="54864" cy="3886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1737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文档与智能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221284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PyMuPDF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1" y="243230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1.28.2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1" y="285292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MinerU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307238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v4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1" y="3493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LangGraph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1" y="3712463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1.2.16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1" y="4133087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DeepSeek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1" y="435254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deepseek-flash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1" y="4773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Zhipu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1" y="499262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embedding-3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25128" y="1600200"/>
            <a:ext cx="2606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43415" y="1737360"/>
            <a:ext cx="54864" cy="3886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53728" y="1737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存储与交付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221284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ChromaDB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3728" y="243230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1.5.9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3728" y="285292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python-docx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53728" y="307238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1.2.0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53728" y="3493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pytest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3728" y="3712463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9.1.1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3728" y="4133087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Markdown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53728" y="435254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交付格式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53728" y="477316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334155"/>
                </a:solidFill>
                <a:latin typeface="Microsoft YaHei"/>
                <a:ea typeface="Microsoft YaHei"/>
              </a:rPr>
              <a:t>DOCX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53728" y="4992624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交付格式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Microsoft YaHei"/>
                <a:ea typeface="Microsoft YaHei"/>
              </a:rPr>
              <a:t>版本快照 2026-10-17 · 以锁文件与实际安装为准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四个关键机制，决定结果质量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结构、检索、抽取、修订：每个机制都为“可检查”服务。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54864" cy="17373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64792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书签结构还原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4983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结构优先；无书签按页兜底，正文不丢。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EA5E9"/>
                </a:solidFill>
                <a:latin typeface="Microsoft YaHei"/>
                <a:ea typeface="Microsoft YaHei"/>
              </a:rPr>
              <a:t>书签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09928" y="2816352"/>
            <a:ext cx="109728" cy="12801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74519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EA5E9"/>
                </a:solidFill>
                <a:latin typeface="Microsoft YaHei"/>
                <a:ea typeface="Microsoft YaHei"/>
              </a:rPr>
              <a:t>归页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07208" y="2816352"/>
            <a:ext cx="109728" cy="128016"/>
          </a:xfrm>
          <a:prstGeom prst="right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71800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0EA5E9"/>
                </a:solidFill>
                <a:latin typeface="Microsoft YaHei"/>
                <a:ea typeface="Microsoft YaHei"/>
              </a:rPr>
              <a:t>章节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60020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737360"/>
            <a:ext cx="54864" cy="17373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1764792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章节感知检索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130552"/>
            <a:ext cx="4983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目录页跳过；重复入库不重复计费。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0B981"/>
                </a:solidFill>
                <a:latin typeface="Microsoft YaHei"/>
                <a:ea typeface="Microsoft YaHei"/>
              </a:rPr>
              <a:t>分块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360920" y="2816352"/>
            <a:ext cx="109728" cy="12801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25512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0B981"/>
                </a:solidFill>
                <a:latin typeface="Microsoft YaHei"/>
                <a:ea typeface="Microsoft YaHei"/>
              </a:rPr>
              <a:t>指纹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458200" y="2816352"/>
            <a:ext cx="109728" cy="12801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22792" y="27432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10B981"/>
                </a:solidFill>
                <a:latin typeface="Microsoft YaHei"/>
                <a:ea typeface="Microsoft YaHei"/>
              </a:rPr>
              <a:t>入库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931920"/>
            <a:ext cx="54864" cy="17373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959352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Map-Reduce 抽取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25112"/>
            <a:ext cx="4983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单章失败不拖垮全篇；截断自动二分。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7C3AED"/>
                </a:solidFill>
                <a:latin typeface="Microsoft YaHei"/>
                <a:ea typeface="Microsoft YaHei"/>
              </a:rPr>
              <a:t>切分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709928" y="5010912"/>
            <a:ext cx="109728" cy="12801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874519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7C3AED"/>
                </a:solidFill>
                <a:latin typeface="Microsoft YaHei"/>
                <a:ea typeface="Microsoft YaHei"/>
              </a:rPr>
              <a:t>抽取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807208" y="5010912"/>
            <a:ext cx="109728" cy="12801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71800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7C3AED"/>
                </a:solidFill>
                <a:latin typeface="Microsoft YaHei"/>
                <a:ea typeface="Microsoft YaHei"/>
              </a:rPr>
              <a:t>核对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794760"/>
            <a:ext cx="5440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3931920"/>
            <a:ext cx="54864" cy="173736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959352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写作-评审-修订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4325112"/>
            <a:ext cx="4983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</a:rPr>
              <a:t>低分才修订；只保留不降分稿。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28232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D97706"/>
                </a:solidFill>
                <a:latin typeface="Microsoft YaHei"/>
                <a:ea typeface="Microsoft YaHei"/>
              </a:rPr>
              <a:t>写作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360920" y="5010912"/>
            <a:ext cx="109728" cy="128016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25512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D97706"/>
                </a:solidFill>
                <a:latin typeface="Microsoft YaHei"/>
                <a:ea typeface="Microsoft YaHei"/>
              </a:rPr>
              <a:t>评审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458200" y="5010912"/>
            <a:ext cx="109728" cy="128016"/>
          </a:xfrm>
          <a:prstGeom prst="rightArrow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22792" y="493776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830" b="1">
                <a:solidFill>
                  <a:srgbClr val="D97706"/>
                </a:solidFill>
                <a:latin typeface="Microsoft YaHei"/>
                <a:ea typeface="Microsoft YaHei"/>
              </a:rPr>
              <a:t>修订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05 · 可靠性与安全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长任务、文件与内容，都需要边界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可靠性来自可重试与幂等；安全来自白名单、路径校验与不编造。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8013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任务可靠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5029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acks_late 延迟确认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失败自动重试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进度节流上报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结果保留 24 小时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801368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5432" y="1783080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数据一致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13432"/>
            <a:ext cx="5029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幂等入库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内容指纹跳过未变片段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临时目录隔离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旧片段自动清理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858768"/>
            <a:ext cx="347472" cy="34747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40480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路径安全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70832"/>
            <a:ext cx="5029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id 正则校验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文件名白名单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路径归属校验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IPC 仅允许 upload/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65760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858768"/>
            <a:ext cx="347472" cy="34747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840480"/>
            <a:ext cx="4526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0B1220"/>
                </a:solidFill>
                <a:latin typeface="Microsoft YaHei"/>
                <a:ea typeface="Microsoft YaHei"/>
              </a:rPr>
              <a:t>内容安全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70832"/>
            <a:ext cx="502920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不编造公司资料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统一占位符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不自动报价</a:t>
            </a:r>
          </a:p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960" b="0">
                <a:solidFill>
                  <a:srgbClr val="334155"/>
                </a:solidFill>
                <a:latin typeface="Microsoft YaHei"/>
                <a:ea typeface="Microsoft YaHei"/>
              </a:rPr>
              <a:t>• 草稿免责声明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离线测试：拦截真实网络 · 临时目录隔离 · 189 项后端测试通过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06 · 当前成果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一条链路已经跑通，下一步是产品化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从解析到编写、从界面对接到离线测试，核心链路已可完整演示。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2194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0EA5E9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B1220"/>
                </a:solidFill>
                <a:latin typeface="Microsoft YaHei"/>
                <a:ea typeface="Microsoft YaHei"/>
              </a:rPr>
              <a:t>工作区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上传 / 文档库 / 编写 / 历史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55648"/>
            <a:ext cx="2194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0D9488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5915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B1220"/>
                </a:solidFill>
                <a:latin typeface="Microsoft YaHei"/>
                <a:ea typeface="Microsoft YaHei"/>
              </a:rPr>
              <a:t>异步任务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65176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解析任务 + 编写任务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38728"/>
            <a:ext cx="2194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10B981"/>
                </a:solidFill>
                <a:latin typeface="Microsoft YaHei"/>
                <a:ea typeface="Microsoft YaHei"/>
              </a:rPr>
              <a:t>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14223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B1220"/>
                </a:solidFill>
                <a:latin typeface="Microsoft YaHei"/>
                <a:ea typeface="Microsoft YaHei"/>
              </a:rPr>
              <a:t>后端测试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3484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离线运行，不消耗真实额度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429000"/>
            <a:ext cx="2560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3538728"/>
            <a:ext cx="21945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000" b="1">
                <a:solidFill>
                  <a:srgbClr val="D97706"/>
                </a:solidFill>
                <a:latin typeface="Microsoft YaHei"/>
                <a:ea typeface="Microsoft YaHei"/>
              </a:rPr>
              <a:t>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142232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0B1220"/>
                </a:solidFill>
                <a:latin typeface="Microsoft YaHei"/>
                <a:ea typeface="Microsoft YaHei"/>
              </a:rPr>
              <a:t>页实测文档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4434840"/>
            <a:ext cx="21945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30" b="0">
                <a:solidFill>
                  <a:srgbClr val="64748B"/>
                </a:solidFill>
                <a:latin typeface="Microsoft YaHei"/>
                <a:ea typeface="Microsoft YaHei"/>
              </a:rPr>
              <a:t>MinerU 解析 + 140 章节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45920"/>
            <a:ext cx="5239512" cy="384048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874519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</a:rPr>
              <a:t>实测快照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19456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</a:rPr>
              <a:t>72 页无书签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606040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800" b="1">
                <a:solidFill>
                  <a:srgbClr val="10B981"/>
                </a:solidFill>
                <a:latin typeface="Microsoft YaHei"/>
                <a:ea typeface="Microsoft YaHei"/>
              </a:rPr>
              <a:t>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74320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个检索片段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383280"/>
            <a:ext cx="4572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8.3 秒完成入库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886200"/>
            <a:ext cx="45262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从“0 片段失败”到“124 片段成功”，验证无书签兜底分块与目录页过滤。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407408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1">
                <a:solidFill>
                  <a:srgbClr val="0EA5E9"/>
                </a:solidFill>
                <a:latin typeface="Microsoft YaHei"/>
                <a:ea typeface="Microsoft YaHei"/>
              </a:rPr>
              <a:t>关键验证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663440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94A3B8"/>
                </a:solidFill>
                <a:latin typeface="Microsoft YaHei"/>
                <a:ea typeface="Microsoft YaHei"/>
              </a:rPr>
              <a:t>无书签 PDF：按页兜底分块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901183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94A3B8"/>
                </a:solidFill>
                <a:latin typeface="Microsoft YaHei"/>
                <a:ea typeface="Microsoft YaHei"/>
              </a:rPr>
              <a:t>目录页：4 点引导行识别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138927"/>
            <a:ext cx="4572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94A3B8"/>
                </a:solidFill>
                <a:latin typeface="Microsoft YaHei"/>
                <a:ea typeface="Microsoft YaHei"/>
              </a:rPr>
              <a:t>离线测试：零真实网络请求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19" b="0">
                <a:solidFill>
                  <a:srgbClr val="64748B"/>
                </a:solidFill>
                <a:latin typeface="Microsoft YaHei"/>
                <a:ea typeface="Microsoft YaHei"/>
              </a:rPr>
              <a:t>当前版本：本地单用户桌面版 · 指标为开发环境快照（2026-10-17）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0">
                <a:solidFill>
                  <a:srgbClr val="0EA5E9"/>
                </a:solidFill>
                <a:latin typeface="Microsoft YaHei"/>
                <a:ea typeface="Microsoft YaHei"/>
              </a:rPr>
              <a:t>06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1094415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600" b="1">
                <a:solidFill>
                  <a:srgbClr val="0B1220"/>
                </a:solidFill>
                <a:latin typeface="Microsoft YaHei"/>
                <a:ea typeface="Microsoft YaHei"/>
              </a:rPr>
              <a:t>从本地工具到团队产品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78992"/>
            <a:ext cx="502920" cy="5486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</a:rPr>
              <a:t>先保证可追溯与可交付，再扩展协作、自动化与复杂版面能力。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607040" cy="27432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48839" y="2048256"/>
            <a:ext cx="402336" cy="402336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近期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63040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1–2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30632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把原型变成可安装、可恢复的产品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65576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1" y="3410712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持久化任务与文档元数据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6908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1" y="4014216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任务取消与实时进度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67258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1" y="4617720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桌面安装包</a:t>
            </a:r>
          </a:p>
        </p:txBody>
      </p:sp>
      <p:sp>
        <p:nvSpPr>
          <p:cNvPr id="19" name="Oval 18"/>
          <p:cNvSpPr/>
          <p:nvPr/>
        </p:nvSpPr>
        <p:spPr>
          <a:xfrm>
            <a:off x="5833872" y="204825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4173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中期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1463040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3–6 个月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7432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80360"/>
            <a:ext cx="30632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从单机工具走向小团队协作</a:t>
            </a:r>
          </a:p>
        </p:txBody>
      </p:sp>
      <p:sp>
        <p:nvSpPr>
          <p:cNvPr id="24" name="Oval 23"/>
          <p:cNvSpPr/>
          <p:nvPr/>
        </p:nvSpPr>
        <p:spPr>
          <a:xfrm>
            <a:off x="4553712" y="3465576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3410712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登录 / 角色 / 项目隔离</a:t>
            </a:r>
          </a:p>
        </p:txBody>
      </p:sp>
      <p:sp>
        <p:nvSpPr>
          <p:cNvPr id="26" name="Oval 25"/>
          <p:cNvSpPr/>
          <p:nvPr/>
        </p:nvSpPr>
        <p:spPr>
          <a:xfrm>
            <a:off x="4553712" y="4069080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5464" y="4014216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扫描件文字识别</a:t>
            </a:r>
          </a:p>
        </p:txBody>
      </p:sp>
      <p:sp>
        <p:nvSpPr>
          <p:cNvPr id="28" name="Oval 27"/>
          <p:cNvSpPr/>
          <p:nvPr/>
        </p:nvSpPr>
        <p:spPr>
          <a:xfrm>
            <a:off x="4553712" y="467258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5464" y="4617720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批量任务与队列扩容</a:t>
            </a:r>
          </a:p>
        </p:txBody>
      </p:sp>
      <p:sp>
        <p:nvSpPr>
          <p:cNvPr id="30" name="Oval 29"/>
          <p:cNvSpPr/>
          <p:nvPr/>
        </p:nvSpPr>
        <p:spPr>
          <a:xfrm>
            <a:off x="9518904" y="2048256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141732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远期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1463040"/>
            <a:ext cx="2103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6 个月+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4" y="27432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8744" y="2880360"/>
            <a:ext cx="306323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80" b="0">
                <a:solidFill>
                  <a:srgbClr val="64748B"/>
                </a:solidFill>
                <a:latin typeface="Microsoft YaHei"/>
                <a:ea typeface="Microsoft YaHei"/>
              </a:rPr>
              <a:t>覆盖复杂版面与规模化交付</a:t>
            </a:r>
          </a:p>
        </p:txBody>
      </p:sp>
      <p:sp>
        <p:nvSpPr>
          <p:cNvPr id="35" name="Oval 34"/>
          <p:cNvSpPr/>
          <p:nvPr/>
        </p:nvSpPr>
        <p:spPr>
          <a:xfrm>
            <a:off x="8238744" y="346557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3410712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表格 / 图纸还原</a:t>
            </a:r>
          </a:p>
        </p:txBody>
      </p:sp>
      <p:sp>
        <p:nvSpPr>
          <p:cNvPr id="37" name="Oval 36"/>
          <p:cNvSpPr/>
          <p:nvPr/>
        </p:nvSpPr>
        <p:spPr>
          <a:xfrm>
            <a:off x="8238744" y="406908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4014216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前端自动化测试</a:t>
            </a:r>
          </a:p>
        </p:txBody>
      </p:sp>
      <p:sp>
        <p:nvSpPr>
          <p:cNvPr id="39" name="Oval 38"/>
          <p:cNvSpPr/>
          <p:nvPr/>
        </p:nvSpPr>
        <p:spPr>
          <a:xfrm>
            <a:off x="8238744" y="467258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0496" y="4617720"/>
            <a:ext cx="2743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Microsoft YaHei"/>
                <a:ea typeface="Microsoft YaHei"/>
              </a:rPr>
              <a:t>多人协作与审计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715000"/>
            <a:ext cx="11094415" cy="50292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</a:rPr>
              <a:t>原则：先保证可追溯与可交付，再扩展协作与自动化。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428232"/>
            <a:ext cx="11094415" cy="9144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8412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招标文件多智能体系统 · 产品设计与技术架构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868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Microsoft YaHei"/>
                <a:ea typeface="Microsoft YaHe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100" b="1">
                <a:solidFill>
                  <a:srgbClr val="0EA5E9"/>
                </a:solidFill>
                <a:latin typeface="Microsoft YaHei"/>
                <a:ea typeface="Microsoft YaHei"/>
              </a:rPr>
              <a:t>THE NEXT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580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从招标文件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到可交付草稿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3182112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10896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结构可追溯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108960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书签、页码、章节与产物目录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9534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822191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覆盖可检查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822191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格式、评分、章节得分与占位符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608576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0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35424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内容不编造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35424"/>
            <a:ext cx="3840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缺失资料统一占位，报价只留结构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EA5E9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</a:rPr>
              <a:t>开发文档 · 技术栈 · 核心算法 · 组件工作机制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234440"/>
            <a:ext cx="3749039" cy="4846320"/>
          </a:xfrm>
          <a:prstGeom prst="roundRect">
            <a:avLst>
              <a:gd name="adj" fmla="val 6000"/>
            </a:avLst>
          </a:prstGeom>
          <a:solidFill>
            <a:srgbClr val="111C2E"/>
          </a:solidFill>
          <a:ln w="1016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50876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产品设计与技术架构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874519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00" b="0">
                <a:solidFill>
                  <a:srgbClr val="0EA5E9"/>
                </a:solidFill>
                <a:latin typeface="Microsoft YaHei"/>
                <a:ea typeface="Microsoft YaHei"/>
              </a:rPr>
              <a:t>2026.10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331720"/>
            <a:ext cx="3108960" cy="9144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6032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解析 · 抽取 · 索引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063239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策划 · 写作 · 评审 · 修订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56616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Markdown · Word · 覆盖报告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069080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Microsoft YaHei"/>
                <a:ea typeface="Microsoft YaHei"/>
              </a:rPr>
              <a:t>本地优先 · 可追溯 · 不编造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212080"/>
            <a:ext cx="31089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一条从读取到交付的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 typeface="Microsoft YaHei"/>
              </a:rPr>
              <a:t>可检查链路。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招标文件多智能体系统 · 产品设计与技术架构</dc:title>
  <dc:subject>产品设计与技术架构汇报</dc:subject>
  <dc:creator>Bidding Multi-Agent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